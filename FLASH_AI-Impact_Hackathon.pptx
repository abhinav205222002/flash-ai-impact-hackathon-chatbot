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8288000" cy="10287000"/>
  <p:notesSz cx="6858000" cy="9144000"/>
  <p:embeddedFontLst>
    <p:embeddedFont>
      <p:font typeface="Telegraf" panose="020B0604020202020204" charset="0"/>
      <p:regular r:id="rId7"/>
    </p:embeddedFont>
    <p:embeddedFont>
      <p:font typeface="Telegraf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578" y="5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891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153400" y="1790700"/>
            <a:ext cx="9829800" cy="1971095"/>
            <a:chOff x="0" y="-9525"/>
            <a:chExt cx="11099800" cy="2563642"/>
          </a:xfrm>
        </p:grpSpPr>
        <p:sp>
          <p:nvSpPr>
            <p:cNvPr id="8" name="TextBox 8"/>
            <p:cNvSpPr txBox="1"/>
            <p:nvPr/>
          </p:nvSpPr>
          <p:spPr>
            <a:xfrm>
              <a:off x="0" y="1174750"/>
              <a:ext cx="11099800" cy="1379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9900"/>
                </a:lnSpc>
              </a:pPr>
              <a:r>
                <a:rPr lang="en-US" sz="3200" b="1" spc="-89" dirty="0">
                  <a:solidFill>
                    <a:srgbClr val="E1E8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AI-Powered GitHub &amp; JIRA Insights Dashboard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r>
                <a:rPr lang="en-US" sz="2999" b="1" spc="-29" dirty="0">
                  <a:solidFill>
                    <a:srgbClr val="E1E8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Impact Hackathon Project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144000" y="6743700"/>
            <a:ext cx="8324850" cy="2937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l">
              <a:lnSpc>
                <a:spcPts val="3299"/>
              </a:lnSpc>
            </a:pPr>
            <a:r>
              <a:rPr lang="en-US" sz="2999" spc="-29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  <a:t>Presented by:</a:t>
            </a:r>
            <a:br>
              <a:rPr lang="en-US" sz="2999" spc="-29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</a:br>
            <a:br>
              <a:rPr lang="en-US" sz="2400" spc="-29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</a:br>
            <a:r>
              <a:rPr lang="en-US" sz="2400" spc="-29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  <a:t>Lahu </a:t>
            </a:r>
            <a:r>
              <a:rPr lang="en-US" sz="2400" spc="-29" dirty="0" err="1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  <a:t>Pachpol</a:t>
            </a:r>
            <a:r>
              <a:rPr lang="en-US" sz="2400" spc="-29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  <a:t>  (lp23781@citi.com)</a:t>
            </a:r>
          </a:p>
          <a:p>
            <a:pPr lvl="0" algn="l">
              <a:lnSpc>
                <a:spcPts val="3299"/>
              </a:lnSpc>
            </a:pPr>
            <a:r>
              <a:rPr lang="en-US" sz="2400" spc="-29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  <a:t>Pratik Deshpande (pv36825@citi.com)</a:t>
            </a:r>
          </a:p>
          <a:p>
            <a:pPr lvl="0">
              <a:lnSpc>
                <a:spcPts val="3299"/>
              </a:lnSpc>
            </a:pPr>
            <a:r>
              <a:rPr lang="en-US" sz="2400" spc="-29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  <a:t>Abhinav Raj  (ar32759@citi.com)</a:t>
            </a:r>
            <a:br>
              <a:rPr lang="en-US" sz="2400" spc="-29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</a:br>
            <a:r>
              <a:rPr lang="en-US" sz="2400" spc="-29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  <a:t>Dhanashree Pawar (dp49267@citi.com )</a:t>
            </a:r>
            <a:br>
              <a:rPr lang="en-US" sz="2400" spc="-29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</a:br>
            <a:endParaRPr lang="en-US" sz="2400" spc="-29" dirty="0">
              <a:solidFill>
                <a:srgbClr val="E1E8F8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4891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694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2400" y="2781300"/>
            <a:ext cx="18059400" cy="6389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spc="-20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rPr>
              <a:t>Modern software development teams rely heavily on GitHub for code management and JIRA for issue tracking, but these two critical systems remain disconnected for most organizations. As a result, developers, testers, and project managers face the following challenges:</a:t>
            </a:r>
          </a:p>
          <a:p>
            <a:pPr marL="0" lvl="0" indent="0" algn="l">
              <a:lnSpc>
                <a:spcPts val="2800"/>
              </a:lnSpc>
            </a:pPr>
            <a:endParaRPr lang="en-US" sz="2000" spc="-20" dirty="0">
              <a:solidFill>
                <a:srgbClr val="E1E8F8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r>
              <a:rPr lang="en-IN" sz="2000" dirty="0"/>
              <a:t>1️⃣ </a:t>
            </a:r>
            <a:r>
              <a:rPr lang="en-IN" sz="2000" b="1" dirty="0">
                <a:solidFill>
                  <a:schemeClr val="bg1"/>
                </a:solidFill>
              </a:rPr>
              <a:t>No AI-Driven Insights for Fast Decision 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Traditional dashboards only show raw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Teams need intelligence — not just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Missing capabilities.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Natural-language chatbot answers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Pattern recognition (developer workload, bottlenecks, progress trends)</a:t>
            </a:r>
          </a:p>
          <a:p>
            <a:pPr marL="0" lvl="0" indent="0" algn="l">
              <a:lnSpc>
                <a:spcPts val="2800"/>
              </a:lnSpc>
            </a:pPr>
            <a:endParaRPr lang="en-US" sz="2000" spc="-20" dirty="0">
              <a:solidFill>
                <a:srgbClr val="E1E8F8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IN" sz="2000" dirty="0"/>
              <a:t>2️⃣</a:t>
            </a:r>
            <a:r>
              <a:rPr lang="en-US" sz="2000" b="1" dirty="0">
                <a:solidFill>
                  <a:schemeClr val="bg1"/>
                </a:solidFill>
              </a:rPr>
              <a:t>Difficulty Identifying Risks &amp; Blockers Early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Blockers remain unnoticed until meetings.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There is no single dashboard that can instantly answer: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bg1"/>
                </a:solidFill>
              </a:rPr>
              <a:t>“What’s blocking the development team?”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This lack of visibility leads to </a:t>
            </a:r>
            <a:r>
              <a:rPr lang="en-US" sz="2000" b="1" dirty="0">
                <a:solidFill>
                  <a:schemeClr val="bg1"/>
                </a:solidFill>
              </a:rPr>
              <a:t>delivery delays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US" sz="2000" b="1" dirty="0"/>
              <a:t>🔍 </a:t>
            </a:r>
            <a:r>
              <a:rPr lang="en-US" sz="2000" b="1" dirty="0">
                <a:solidFill>
                  <a:schemeClr val="bg1"/>
                </a:solidFill>
              </a:rPr>
              <a:t>In Summary — 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This project is a modern engineering productivity tool that unifies GitHub commit analytics, JIRA issue tracking, and a powerful LLM-based AI chatbot into a single interactive dashboard. It also includes an intelligent Regression Test Case Generator that analyzes code changes, commit metadata, and JIRA-linked tasks to automatically identify impacted components and recommend relevant regression test cases. This will save CI/CD time and accelerates release cycles.</a:t>
            </a:r>
          </a:p>
          <a:p>
            <a:pPr marL="0" lvl="0" indent="0" algn="l">
              <a:lnSpc>
                <a:spcPts val="2800"/>
              </a:lnSpc>
            </a:pPr>
            <a:endParaRPr lang="en-US" sz="2000" spc="-20" dirty="0">
              <a:solidFill>
                <a:srgbClr val="E1E8F8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66750" y="657225"/>
            <a:ext cx="16954500" cy="106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spc="-69" dirty="0">
                <a:solidFill>
                  <a:srgbClr val="E1E8F8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 Statement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E1E8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E1E8F8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88DAC18-9B21-8868-7E5E-84346C01B650}"/>
              </a:ext>
            </a:extLst>
          </p:cNvPr>
          <p:cNvSpPr txBox="1"/>
          <p:nvPr/>
        </p:nvSpPr>
        <p:spPr>
          <a:xfrm>
            <a:off x="685970" y="657225"/>
            <a:ext cx="16078030" cy="955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363"/>
              </a:lnSpc>
            </a:pPr>
            <a:r>
              <a:rPr lang="en-IN" sz="7200" dirty="0">
                <a:solidFill>
                  <a:schemeClr val="bg1"/>
                </a:solidFill>
              </a:rPr>
              <a:t>Project Architecture &amp; Working</a:t>
            </a:r>
            <a:endParaRPr lang="en-US" sz="6693" b="1" u="none" strike="noStrike" spc="-66" dirty="0">
              <a:solidFill>
                <a:schemeClr val="bg1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FFBEE-E178-098D-762B-D6D67F5E9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866900"/>
            <a:ext cx="14630400" cy="807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57225"/>
            <a:ext cx="13639630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363"/>
              </a:lnSpc>
            </a:pPr>
            <a:r>
              <a:rPr lang="en-US" sz="6693" b="1" u="none" strike="noStrike" spc="-66" dirty="0">
                <a:solidFill>
                  <a:srgbClr val="E1E8F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Importance &amp; Future Scope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2450306"/>
            <a:ext cx="5437619" cy="2260284"/>
            <a:chOff x="0" y="-9525"/>
            <a:chExt cx="7250159" cy="2115155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236511" cy="1131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258"/>
                </a:lnSpc>
              </a:pPr>
              <a:r>
                <a:rPr lang="en-US" sz="3200" dirty="0">
                  <a:solidFill>
                    <a:schemeClr val="bg1"/>
                  </a:solidFill>
                </a:rPr>
                <a:t>AI-Driven Regression Test Case Prediction</a:t>
              </a:r>
              <a:endParaRPr lang="en-US" sz="2962" b="1" spc="-29" dirty="0">
                <a:solidFill>
                  <a:schemeClr val="bg1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648" y="788562"/>
              <a:ext cx="7236511" cy="13170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Automatically analyze Git commit changes and generate a prioritized list of regression test cases likely to be impacted. This saves CI/CD time and accelerates release cycles.</a:t>
              </a:r>
              <a:endParaRPr lang="en-US" sz="2000" spc="-20" dirty="0">
                <a:solidFill>
                  <a:schemeClr val="bg1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39070" y="2450305"/>
            <a:ext cx="5429080" cy="1959707"/>
            <a:chOff x="0" y="-9525"/>
            <a:chExt cx="7238774" cy="163859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38774" cy="1131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258"/>
                </a:lnSpc>
              </a:pPr>
              <a:r>
                <a:rPr lang="en-IN" sz="3200" dirty="0">
                  <a:solidFill>
                    <a:schemeClr val="bg1"/>
                  </a:solidFill>
                </a:rPr>
                <a:t>Automatic Documentation Generation</a:t>
              </a:r>
              <a:endParaRPr lang="en-US" sz="2962" b="1" spc="-29" dirty="0">
                <a:solidFill>
                  <a:schemeClr val="bg1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86"/>
              <a:ext cx="7238774" cy="8765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Generate release notes, architecture diagrams, and technical change summaries directly from commit logs and JIRA updates.</a:t>
              </a:r>
              <a:endParaRPr lang="en-US" sz="2000" spc="-20" dirty="0">
                <a:solidFill>
                  <a:schemeClr val="bg1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92170" y="2450305"/>
            <a:ext cx="5424446" cy="2755940"/>
            <a:chOff x="0" y="-9525"/>
            <a:chExt cx="7232595" cy="1640458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7232595" cy="1128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58"/>
                </a:lnSpc>
              </a:pPr>
              <a:r>
                <a:rPr lang="en-IN" sz="3200" b="1" dirty="0">
                  <a:solidFill>
                    <a:schemeClr val="bg1"/>
                  </a:solidFill>
                </a:rPr>
                <a:t>Chatbot → Full Project Analyst</a:t>
              </a:r>
            </a:p>
            <a:p>
              <a:pPr marL="0" lvl="0" indent="0" algn="l">
                <a:lnSpc>
                  <a:spcPts val="3258"/>
                </a:lnSpc>
              </a:pPr>
              <a:endParaRPr lang="en-US" sz="2962" b="1" spc="-29" dirty="0">
                <a:solidFill>
                  <a:schemeClr val="bg1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348517"/>
              <a:ext cx="7232595" cy="1282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The chatbot evolves into a full AI project analyst capable of: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Predicting delivery delays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Recommending developers for tasks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Detecting duplicate JIRA issues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Summarizing weekly progress in natural language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E1E8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E1E8F8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INSIGHTS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4062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E1E8F8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DD0C4E1F-8D74-370B-2C78-4914CEAFB33C}"/>
              </a:ext>
            </a:extLst>
          </p:cNvPr>
          <p:cNvGrpSpPr/>
          <p:nvPr/>
        </p:nvGrpSpPr>
        <p:grpSpPr>
          <a:xfrm>
            <a:off x="687107" y="5576410"/>
            <a:ext cx="5429080" cy="2472381"/>
            <a:chOff x="0" y="-9525"/>
            <a:chExt cx="7238774" cy="2159830"/>
          </a:xfrm>
        </p:grpSpPr>
        <p:sp>
          <p:nvSpPr>
            <p:cNvPr id="22" name="TextBox 13">
              <a:extLst>
                <a:ext uri="{FF2B5EF4-FFF2-40B4-BE49-F238E27FC236}">
                  <a16:creationId xmlns:a16="http://schemas.microsoft.com/office/drawing/2014/main" id="{4C0C1573-4997-AA16-2C6F-93D5D7EEA07D}"/>
                </a:ext>
              </a:extLst>
            </p:cNvPr>
            <p:cNvSpPr txBox="1"/>
            <p:nvPr/>
          </p:nvSpPr>
          <p:spPr>
            <a:xfrm>
              <a:off x="0" y="-9525"/>
              <a:ext cx="7238774" cy="1131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258"/>
                </a:lnSpc>
              </a:pPr>
              <a:r>
                <a:rPr lang="en-IN" sz="3200" dirty="0">
                  <a:solidFill>
                    <a:schemeClr val="bg1"/>
                  </a:solidFill>
                </a:rPr>
                <a:t>Intelligent Sprint Planning Assistant</a:t>
              </a:r>
              <a:endParaRPr lang="en-US" sz="2962" b="1" spc="-29" dirty="0">
                <a:solidFill>
                  <a:schemeClr val="bg1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F9510A52-D6F5-6CDA-D284-BAAC48482EDC}"/>
                </a:ext>
              </a:extLst>
            </p:cNvPr>
            <p:cNvSpPr txBox="1"/>
            <p:nvPr/>
          </p:nvSpPr>
          <p:spPr>
            <a:xfrm>
              <a:off x="0" y="752486"/>
              <a:ext cx="7238774" cy="1397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Use AI to read JIRA issues + Git history and recommend sprint capacity, developer allocation, and risk prediction before planning begins.</a:t>
              </a:r>
              <a:endParaRPr lang="en-US" sz="2000" spc="-20" dirty="0">
                <a:solidFill>
                  <a:schemeClr val="bg1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25" name="Group 9">
            <a:extLst>
              <a:ext uri="{FF2B5EF4-FFF2-40B4-BE49-F238E27FC236}">
                <a16:creationId xmlns:a16="http://schemas.microsoft.com/office/drawing/2014/main" id="{235002CE-C564-BA0D-DC6B-8C62DD370C3C}"/>
              </a:ext>
            </a:extLst>
          </p:cNvPr>
          <p:cNvGrpSpPr/>
          <p:nvPr/>
        </p:nvGrpSpPr>
        <p:grpSpPr>
          <a:xfrm>
            <a:off x="6429460" y="5465440"/>
            <a:ext cx="5429080" cy="1966504"/>
            <a:chOff x="0" y="-9525"/>
            <a:chExt cx="7238774" cy="1644273"/>
          </a:xfrm>
        </p:grpSpPr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C3E23600-B79C-7831-6BDE-B25BCDD63CB9}"/>
                </a:ext>
              </a:extLst>
            </p:cNvPr>
            <p:cNvSpPr txBox="1"/>
            <p:nvPr/>
          </p:nvSpPr>
          <p:spPr>
            <a:xfrm>
              <a:off x="0" y="-9525"/>
              <a:ext cx="7238774" cy="709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258"/>
                </a:lnSpc>
              </a:pPr>
              <a:r>
                <a:rPr lang="en-IN" sz="3200" dirty="0">
                  <a:solidFill>
                    <a:schemeClr val="bg1"/>
                  </a:solidFill>
                </a:rPr>
                <a:t>Real-Time Project Health Monitoring</a:t>
              </a:r>
              <a:endParaRPr lang="en-US" sz="2962" b="1" spc="-29" dirty="0">
                <a:solidFill>
                  <a:schemeClr val="bg1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  <p:sp>
          <p:nvSpPr>
            <p:cNvPr id="27" name="TextBox 11">
              <a:extLst>
                <a:ext uri="{FF2B5EF4-FFF2-40B4-BE49-F238E27FC236}">
                  <a16:creationId xmlns:a16="http://schemas.microsoft.com/office/drawing/2014/main" id="{495E0195-DA92-ACD4-A1FA-5A7D04BFD634}"/>
                </a:ext>
              </a:extLst>
            </p:cNvPr>
            <p:cNvSpPr txBox="1"/>
            <p:nvPr/>
          </p:nvSpPr>
          <p:spPr>
            <a:xfrm>
              <a:off x="0" y="752486"/>
              <a:ext cx="7238774" cy="8822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AI can track blockers, delays, productivity, and code churn to provide early warnings before issues become critical.</a:t>
              </a:r>
              <a:endParaRPr lang="en-US" sz="2000" spc="-20" dirty="0">
                <a:solidFill>
                  <a:schemeClr val="bg1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28" name="Group 9">
            <a:extLst>
              <a:ext uri="{FF2B5EF4-FFF2-40B4-BE49-F238E27FC236}">
                <a16:creationId xmlns:a16="http://schemas.microsoft.com/office/drawing/2014/main" id="{C061C1DA-02A0-B473-1421-448D93E0C300}"/>
              </a:ext>
            </a:extLst>
          </p:cNvPr>
          <p:cNvGrpSpPr/>
          <p:nvPr/>
        </p:nvGrpSpPr>
        <p:grpSpPr>
          <a:xfrm>
            <a:off x="12344400" y="5532611"/>
            <a:ext cx="5429080" cy="1966504"/>
            <a:chOff x="0" y="-9525"/>
            <a:chExt cx="7238774" cy="1644273"/>
          </a:xfrm>
        </p:grpSpPr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2B07BEF1-3F48-F118-3D0F-F94419E99A30}"/>
                </a:ext>
              </a:extLst>
            </p:cNvPr>
            <p:cNvSpPr txBox="1"/>
            <p:nvPr/>
          </p:nvSpPr>
          <p:spPr>
            <a:xfrm>
              <a:off x="0" y="-9525"/>
              <a:ext cx="7238774" cy="709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258"/>
                </a:lnSpc>
              </a:pPr>
              <a:r>
                <a:rPr lang="en-IN" sz="3200" dirty="0">
                  <a:solidFill>
                    <a:schemeClr val="bg1"/>
                  </a:solidFill>
                </a:rPr>
                <a:t>Multi-Repo &amp; Multi-Team Scaling</a:t>
              </a:r>
              <a:endParaRPr lang="en-US" sz="2962" b="1" spc="-29" dirty="0">
                <a:solidFill>
                  <a:schemeClr val="bg1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4CF5C5AF-6C33-FE44-0EC1-BC97AC65AF86}"/>
                </a:ext>
              </a:extLst>
            </p:cNvPr>
            <p:cNvSpPr txBox="1"/>
            <p:nvPr/>
          </p:nvSpPr>
          <p:spPr>
            <a:xfrm>
              <a:off x="0" y="752486"/>
              <a:ext cx="7238774" cy="8822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Extend the dashboard to handle multiple repositories and teams, with cross-team impact analysis and organization-wide insights.</a:t>
              </a:r>
              <a:endParaRPr lang="en-US" sz="2000" spc="-20" dirty="0">
                <a:solidFill>
                  <a:schemeClr val="bg1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419850" cy="10287000"/>
            <a:chOff x="0" y="0"/>
            <a:chExt cx="758673" cy="1215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8673" cy="1215678"/>
            </a:xfrm>
            <a:custGeom>
              <a:avLst/>
              <a:gdLst/>
              <a:ahLst/>
              <a:cxnLst/>
              <a:rect l="l" t="t" r="r" b="b"/>
              <a:pathLst>
                <a:path w="758673" h="1215678">
                  <a:moveTo>
                    <a:pt x="0" y="0"/>
                  </a:moveTo>
                  <a:lnTo>
                    <a:pt x="758673" y="0"/>
                  </a:lnTo>
                  <a:lnTo>
                    <a:pt x="758673" y="1215678"/>
                  </a:lnTo>
                  <a:lnTo>
                    <a:pt x="0" y="1215678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8077200" y="3217850"/>
            <a:ext cx="8324850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999" b="1" spc="-69" dirty="0">
                <a:solidFill>
                  <a:srgbClr val="E1E8F8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858125" y="5953713"/>
            <a:ext cx="5753100" cy="3433764"/>
            <a:chOff x="0" y="-104775"/>
            <a:chExt cx="7670800" cy="45783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04775"/>
              <a:ext cx="7670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 spc="-30" dirty="0">
                  <a:solidFill>
                    <a:srgbClr val="E1E8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Email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24174"/>
              <a:ext cx="7670800" cy="3749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299"/>
                </a:lnSpc>
              </a:pPr>
              <a:r>
                <a:rPr lang="en-US" sz="2800" spc="-29" dirty="0">
                  <a:solidFill>
                    <a:srgbClr val="E1E8F8"/>
                  </a:solidFill>
                  <a:latin typeface="Telegraf"/>
                  <a:ea typeface="Telegraf"/>
                  <a:cs typeface="Telegraf"/>
                  <a:sym typeface="Telegraf"/>
                </a:rPr>
                <a:t>L</a:t>
              </a:r>
              <a:r>
                <a:rPr lang="en-US" sz="2000" spc="-29" dirty="0">
                  <a:solidFill>
                    <a:srgbClr val="E1E8F8"/>
                  </a:solidFill>
                  <a:latin typeface="Telegraf"/>
                  <a:ea typeface="Telegraf"/>
                  <a:cs typeface="Telegraf"/>
                  <a:sym typeface="Telegraf"/>
                </a:rPr>
                <a:t>ahu </a:t>
              </a:r>
              <a:r>
                <a:rPr lang="en-US" sz="2000" spc="-29" dirty="0" err="1">
                  <a:solidFill>
                    <a:srgbClr val="E1E8F8"/>
                  </a:solidFill>
                  <a:latin typeface="Telegraf"/>
                  <a:ea typeface="Telegraf"/>
                  <a:cs typeface="Telegraf"/>
                  <a:sym typeface="Telegraf"/>
                </a:rPr>
                <a:t>Pachpol</a:t>
              </a:r>
              <a:r>
                <a:rPr lang="en-US" sz="2000" spc="-29" dirty="0">
                  <a:solidFill>
                    <a:srgbClr val="E1E8F8"/>
                  </a:solidFill>
                  <a:latin typeface="Telegraf"/>
                  <a:ea typeface="Telegraf"/>
                  <a:cs typeface="Telegraf"/>
                  <a:sym typeface="Telegraf"/>
                </a:rPr>
                <a:t>  (lp23781@citi.com)</a:t>
              </a:r>
            </a:p>
            <a:p>
              <a:pPr lvl="0">
                <a:lnSpc>
                  <a:spcPts val="3299"/>
                </a:lnSpc>
              </a:pPr>
              <a:r>
                <a:rPr lang="en-US" sz="2000" spc="-29" dirty="0">
                  <a:solidFill>
                    <a:srgbClr val="E1E8F8"/>
                  </a:solidFill>
                  <a:latin typeface="Telegraf"/>
                  <a:ea typeface="Telegraf"/>
                  <a:cs typeface="Telegraf"/>
                  <a:sym typeface="Telegraf"/>
                </a:rPr>
                <a:t>Pratik Deshpande (pv36825@citi.com)</a:t>
              </a:r>
            </a:p>
            <a:p>
              <a:pPr lvl="0">
                <a:lnSpc>
                  <a:spcPts val="3299"/>
                </a:lnSpc>
              </a:pPr>
              <a:r>
                <a:rPr lang="en-US" sz="2000" spc="-29" dirty="0">
                  <a:solidFill>
                    <a:srgbClr val="E1E8F8"/>
                  </a:solidFill>
                  <a:latin typeface="Telegraf"/>
                  <a:ea typeface="Telegraf"/>
                  <a:cs typeface="Telegraf"/>
                  <a:sym typeface="Telegraf"/>
                </a:rPr>
                <a:t>Abhinav Raj  (ar32759@citi.com)</a:t>
              </a:r>
              <a:br>
                <a:rPr lang="en-US" sz="2000" spc="-29" dirty="0">
                  <a:solidFill>
                    <a:srgbClr val="E1E8F8"/>
                  </a:solidFill>
                  <a:latin typeface="Telegraf"/>
                  <a:ea typeface="Telegraf"/>
                  <a:cs typeface="Telegraf"/>
                  <a:sym typeface="Telegraf"/>
                </a:rPr>
              </a:br>
              <a:r>
                <a:rPr lang="en-US" sz="2000" spc="-29" dirty="0">
                  <a:solidFill>
                    <a:srgbClr val="E1E8F8"/>
                  </a:solidFill>
                  <a:latin typeface="Telegraf"/>
                  <a:ea typeface="Telegraf"/>
                  <a:cs typeface="Telegraf"/>
                  <a:sym typeface="Telegraf"/>
                </a:rPr>
                <a:t>Dhanashree Pawar (dp49267@citi.com )</a:t>
              </a:r>
              <a:br>
                <a:rPr lang="en-US" sz="2000" spc="-29" dirty="0">
                  <a:solidFill>
                    <a:srgbClr val="E1E8F8"/>
                  </a:solidFill>
                  <a:latin typeface="Telegraf"/>
                  <a:ea typeface="Telegraf"/>
                  <a:cs typeface="Telegraf"/>
                  <a:sym typeface="Telegraf"/>
                </a:rPr>
              </a:br>
              <a:endParaRPr lang="en-US" sz="2000" spc="-29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l">
                <a:lnSpc>
                  <a:spcPts val="2800"/>
                </a:lnSpc>
              </a:pPr>
              <a:br>
                <a:rPr lang="en-US" sz="2000" spc="-20" dirty="0">
                  <a:solidFill>
                    <a:srgbClr val="E1E8F8"/>
                  </a:solidFill>
                  <a:latin typeface="Telegraf"/>
                  <a:ea typeface="Telegraf"/>
                  <a:cs typeface="Telegraf"/>
                  <a:sym typeface="Telegraf"/>
                </a:rPr>
              </a:br>
              <a:endParaRPr lang="en-US" sz="2000" spc="-20" dirty="0">
                <a:solidFill>
                  <a:srgbClr val="E1E8F8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476</Words>
  <Application>Microsoft Office PowerPoint</Application>
  <PresentationFormat>Custom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Telegraf Bold</vt:lpstr>
      <vt:lpstr>Calibri</vt:lpstr>
      <vt:lpstr>Arial</vt:lpstr>
      <vt:lpstr>Telegraf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Smart DevOps Insights Platform</dc:title>
  <dc:description>Presentation - Smart DevOps Insights Platform</dc:description>
  <cp:lastModifiedBy>Abhinav Raj</cp:lastModifiedBy>
  <cp:revision>21</cp:revision>
  <dcterms:created xsi:type="dcterms:W3CDTF">2006-08-16T00:00:00Z</dcterms:created>
  <dcterms:modified xsi:type="dcterms:W3CDTF">2025-11-21T09:51:58Z</dcterms:modified>
  <dc:identifier>DAG5RBbZ4gc</dc:identifier>
</cp:coreProperties>
</file>